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explicando que o objetivo é mostrar o Nmap como ferramenta de auditoria inicial, usando apenas alvo autorizado de teste.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este slide para orientar o público: não será exploração ofensiva, mas sim reconhecimento e interpretação técnica.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Reforçar que o tutorial usa scanme.nmap.org, um alvo disponibilizado pelo projeto Nmap para testes básicos.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Nmap é reconhecimento. Ele não resolve segurança sozinho, mas mostra a superfície exposta.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Passar rapidamente pelos conceitos e apontar como aparecem na saída real do Nmap.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que já temos o comando do PowerShell. Explicar o uso do &amp; no Windows.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o primeiro scan para mostrar diferença entre porta aberta e versão do serviço.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Apontar que o comando demorou 43,64 segundos e trouxe mais informação do que o scan básico.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o relatório técnico precisa de interpretação, não só print.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Diferenciar categorias. O script vuln exige mais cuidado e só deve ser usado onde há autorização.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Essa é a sequência ideal para demo ao vivo. Se não houver internet, usar prints dos comandos.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Esse slide ajuda a turma a entender por que filtered não é igual a open nem closed.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Bater na tecla da responsabilidade e da diferença entre evidência e conclusão definitiva.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Encerrar resumindo os comandos principais e abrir para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Citar as fontes no final e lembrar que os testes foram feitos em ambiente autorizado.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6012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Nmap + NSE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685800" y="1691640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A8B3C5"/>
                </a:solidFill>
              </a:rPr>
              <a:t>Varredura de rede e análise inicial de segurança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13232" y="2240280"/>
            <a:ext cx="2514600" cy="310896"/>
          </a:xfrm>
          <a:prstGeom prst="roundRect">
            <a:avLst>
              <a:gd name="adj" fmla="val 23529"/>
            </a:avLst>
          </a:prstGeom>
          <a:solidFill>
            <a:srgbClr val="38BDF8">
              <a:alpha val="14000"/>
            </a:srgbClr>
          </a:solidFill>
          <a:ln w="8890">
            <a:solidFill>
              <a:srgbClr val="38BDF8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2308860"/>
            <a:ext cx="23682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E5E7EB"/>
                </a:solidFill>
              </a:rPr>
              <a:t>Apresentação em estilo tutorial</a:t>
            </a:r>
            <a:endParaRPr lang="en-US" sz="840" dirty="0"/>
          </a:p>
        </p:txBody>
      </p:sp>
      <p:sp>
        <p:nvSpPr>
          <p:cNvPr id="6" name="Shape 4"/>
          <p:cNvSpPr/>
          <p:nvPr/>
        </p:nvSpPr>
        <p:spPr>
          <a:xfrm>
            <a:off x="3429000" y="2240280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2DD4BF">
              <a:alpha val="14000"/>
            </a:srgbClr>
          </a:solidFill>
          <a:ln w="8890">
            <a:solidFill>
              <a:srgbClr val="2DD4BF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02152" y="2308860"/>
            <a:ext cx="1453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E5E7EB"/>
                </a:solidFill>
              </a:rPr>
              <a:t>15–20 minutos</a:t>
            </a:r>
            <a:endParaRPr lang="en-US" sz="840" dirty="0"/>
          </a:p>
        </p:txBody>
      </p:sp>
      <p:sp>
        <p:nvSpPr>
          <p:cNvPr id="8" name="Shape 6"/>
          <p:cNvSpPr/>
          <p:nvPr/>
        </p:nvSpPr>
        <p:spPr>
          <a:xfrm>
            <a:off x="7543800" y="960120"/>
            <a:ext cx="2103120" cy="960120"/>
          </a:xfrm>
          <a:prstGeom prst="chevron">
            <a:avLst/>
          </a:prstGeom>
          <a:solidFill>
            <a:srgbClr val="2DD4BF">
              <a:alpha val="75000"/>
            </a:srgbClr>
          </a:solidFill>
          <a:ln w="12700">
            <a:solidFill>
              <a:srgbClr val="2DD4BF">
                <a:alpha val="9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46920" y="2286000"/>
            <a:ext cx="1691640" cy="822960"/>
          </a:xfrm>
          <a:prstGeom prst="chevron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>
                <a:alpha val="8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09560" y="37947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E5E7EB"/>
                </a:solidFill>
              </a:rPr>
              <a:t>RECONHECER</a:t>
            </a:r>
            <a:endParaRPr lang="en-US" sz="2500" dirty="0"/>
          </a:p>
          <a:p>
            <a:pPr algn="ctr" indent="0" marL="0">
              <a:buNone/>
            </a:pPr>
            <a:r>
              <a:rPr lang="en-US" sz="2500" b="1" dirty="0">
                <a:solidFill>
                  <a:srgbClr val="E5E7EB"/>
                </a:solidFill>
              </a:rPr>
              <a:t>MEDIR</a:t>
            </a:r>
            <a:endParaRPr lang="en-US" sz="2500" dirty="0"/>
          </a:p>
          <a:p>
            <a:pPr algn="ctr" indent="0" marL="0">
              <a:buNone/>
            </a:pPr>
            <a:r>
              <a:rPr lang="en-US" sz="2500" b="1" dirty="0">
                <a:solidFill>
                  <a:srgbClr val="E5E7EB"/>
                </a:solidFill>
              </a:rPr>
              <a:t>DOCUMENTAR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685800" y="58978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Gustavo Almeida • IFCE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Roteiro da apresentação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8B3C5"/>
                </a:solidFill>
              </a:rPr>
              <a:t>A sequência foi pensada para caber em 15 a 20 minutos.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1325880" cy="1170432"/>
          </a:xfrm>
          <a:prstGeom prst="roundRect">
            <a:avLst>
              <a:gd name="adj" fmla="val 7813"/>
            </a:avLst>
          </a:prstGeom>
          <a:solidFill>
            <a:srgbClr val="172033"/>
          </a:solidFill>
          <a:ln w="10160">
            <a:solidFill>
              <a:srgbClr val="2DD4BF">
                <a:alpha val="7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61872" y="2130552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DD4BF"/>
                </a:solidFill>
              </a:rPr>
              <a:t>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32688" y="25786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E5E7EB"/>
                </a:solidFill>
              </a:rPr>
              <a:t>Contexto e uso ético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2194560" y="2587752"/>
            <a:ext cx="32004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395728" y="2011680"/>
            <a:ext cx="1325880" cy="1170432"/>
          </a:xfrm>
          <a:prstGeom prst="roundRect">
            <a:avLst>
              <a:gd name="adj" fmla="val 7813"/>
            </a:avLst>
          </a:prstGeom>
          <a:solidFill>
            <a:srgbClr val="111827"/>
          </a:solidFill>
          <a:ln w="10160">
            <a:solidFill>
              <a:srgbClr val="38BDF8">
                <a:alpha val="7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4640" y="2130552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8BDF8"/>
                </a:solidFill>
              </a:rPr>
              <a:t>2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2505456" y="25786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E5E7EB"/>
                </a:solidFill>
              </a:rPr>
              <a:t>O que é Nmap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3767328" y="2587752"/>
            <a:ext cx="32004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968496" y="2011680"/>
            <a:ext cx="1325880" cy="1170432"/>
          </a:xfrm>
          <a:prstGeom prst="roundRect">
            <a:avLst>
              <a:gd name="adj" fmla="val 7813"/>
            </a:avLst>
          </a:prstGeom>
          <a:solidFill>
            <a:srgbClr val="172033"/>
          </a:solidFill>
          <a:ln w="10160">
            <a:solidFill>
              <a:srgbClr val="2DD4BF">
                <a:alpha val="7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07408" y="2130552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DD4BF"/>
                </a:solidFill>
              </a:rPr>
              <a:t>3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4078224" y="25786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E5E7EB"/>
                </a:solidFill>
              </a:rPr>
              <a:t>Estados de portas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5340096" y="2587752"/>
            <a:ext cx="32004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541264" y="2011680"/>
            <a:ext cx="1325880" cy="1170432"/>
          </a:xfrm>
          <a:prstGeom prst="roundRect">
            <a:avLst>
              <a:gd name="adj" fmla="val 7813"/>
            </a:avLst>
          </a:prstGeom>
          <a:solidFill>
            <a:srgbClr val="111827"/>
          </a:solidFill>
          <a:ln w="10160">
            <a:solidFill>
              <a:srgbClr val="38BDF8">
                <a:alpha val="7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80176" y="2130552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8BDF8"/>
                </a:solidFill>
              </a:rPr>
              <a:t>4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5650992" y="25786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E5E7EB"/>
                </a:solidFill>
              </a:rPr>
              <a:t>Detecção de versão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6912864" y="2587752"/>
            <a:ext cx="32004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114032" y="2011680"/>
            <a:ext cx="1325880" cy="1170432"/>
          </a:xfrm>
          <a:prstGeom prst="roundRect">
            <a:avLst>
              <a:gd name="adj" fmla="val 7813"/>
            </a:avLst>
          </a:prstGeom>
          <a:solidFill>
            <a:srgbClr val="172033"/>
          </a:solidFill>
          <a:ln w="10160">
            <a:solidFill>
              <a:srgbClr val="2DD4BF">
                <a:alpha val="7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52944" y="2130552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DD4BF"/>
                </a:solidFill>
              </a:rPr>
              <a:t>5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7223760" y="25786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E5E7EB"/>
                </a:solidFill>
              </a:rPr>
              <a:t>NSE: scripts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8485632" y="2587752"/>
            <a:ext cx="32004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686800" y="2011680"/>
            <a:ext cx="1325880" cy="1170432"/>
          </a:xfrm>
          <a:prstGeom prst="roundRect">
            <a:avLst>
              <a:gd name="adj" fmla="val 7813"/>
            </a:avLst>
          </a:prstGeom>
          <a:solidFill>
            <a:srgbClr val="111827"/>
          </a:solidFill>
          <a:ln w="10160">
            <a:solidFill>
              <a:srgbClr val="38BDF8">
                <a:alpha val="7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25712" y="2130552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8BDF8"/>
                </a:solidFill>
              </a:rPr>
              <a:t>6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8796528" y="25786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E5E7EB"/>
                </a:solidFill>
              </a:rPr>
              <a:t>Demonstração prática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10058400" y="2587752"/>
            <a:ext cx="32004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0259568" y="2011680"/>
            <a:ext cx="1325880" cy="1170432"/>
          </a:xfrm>
          <a:prstGeom prst="roundRect">
            <a:avLst>
              <a:gd name="adj" fmla="val 7813"/>
            </a:avLst>
          </a:prstGeom>
          <a:solidFill>
            <a:srgbClr val="172033"/>
          </a:solidFill>
          <a:ln w="10160">
            <a:solidFill>
              <a:srgbClr val="2DD4BF">
                <a:alpha val="7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698480" y="2130552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DD4BF"/>
                </a:solidFill>
              </a:rPr>
              <a:t>7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10369296" y="25786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E5E7EB"/>
                </a:solidFill>
              </a:rPr>
              <a:t>Limites e conclusão</a:t>
            </a:r>
            <a:endParaRPr lang="en-US" sz="1020" dirty="0"/>
          </a:p>
        </p:txBody>
      </p:sp>
      <p:sp>
        <p:nvSpPr>
          <p:cNvPr id="31" name="Text 29"/>
          <p:cNvSpPr/>
          <p:nvPr/>
        </p:nvSpPr>
        <p:spPr>
          <a:xfrm>
            <a:off x="960120" y="3977640"/>
            <a:ext cx="10149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5E7EB"/>
                </a:solidFill>
              </a:rPr>
              <a:t>Resultado esperado: ao final, a turma entende como executar uma varredura básica, interpretar o resultado e usar scripts NSE de forma responsável.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Regra central: autorização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8B3C5"/>
                </a:solidFill>
              </a:rPr>
              <a:t>Ferramenta de segurança não é permissão para testar qualquer alvo.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822960" y="1417320"/>
            <a:ext cx="5029200" cy="4069080"/>
          </a:xfrm>
          <a:prstGeom prst="roundRect">
            <a:avLst>
              <a:gd name="adj" fmla="val 2247"/>
            </a:avLst>
          </a:prstGeom>
          <a:solidFill>
            <a:srgbClr val="172033"/>
          </a:solidFill>
          <a:ln w="10160">
            <a:solidFill>
              <a:srgbClr val="34D399">
                <a:alpha val="6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7373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34D399"/>
                </a:solidFill>
              </a:rPr>
              <a:t>Permitido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234440" y="2331720"/>
            <a:ext cx="4343400" cy="2240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Sua própria rede ou laboratório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Ambientes da disciplina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Alvos públicos criados para teste, como scanme.nmap.org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Sistemas com autorização formal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355080" y="1417320"/>
            <a:ext cx="5029200" cy="4069080"/>
          </a:xfrm>
          <a:prstGeom prst="roundRect">
            <a:avLst>
              <a:gd name="adj" fmla="val 2247"/>
            </a:avLst>
          </a:prstGeom>
          <a:solidFill>
            <a:srgbClr val="172033"/>
          </a:solidFill>
          <a:ln w="10160">
            <a:solidFill>
              <a:srgbClr val="F87171">
                <a:alpha val="6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29400" y="17373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87171"/>
                </a:solidFill>
              </a:rPr>
              <a:t>Evitar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6766560" y="2331720"/>
            <a:ext cx="4343400" cy="2240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Sites de terceiros sem permissão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Redes corporativas sem autorização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Scans agressivos em produção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Testes com tentativa de invasão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que é o Nmap?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8B3C5"/>
                </a:solidFill>
              </a:rPr>
              <a:t>Network Mapper: reconhecimento e inventário técnico de redes.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E5E7EB"/>
                </a:solidFill>
              </a:rPr>
              <a:t>O Nmap descobre hosts, portas, serviços e indícios de sistema operacional. Ele é usado em inventário, diagnóstico, auditoria e pentest autorizado.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868680" y="2743200"/>
            <a:ext cx="1737360" cy="1051560"/>
          </a:xfrm>
          <a:prstGeom prst="roundRect">
            <a:avLst>
              <a:gd name="adj" fmla="val 8696"/>
            </a:avLst>
          </a:prstGeom>
          <a:solidFill>
            <a:srgbClr val="111827"/>
          </a:solidFill>
          <a:ln w="10160">
            <a:solidFill>
              <a:srgbClr val="38BDF8">
                <a:alpha val="7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90779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</a:rPr>
              <a:t>Alvo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331012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A8B3C5"/>
                </a:solidFill>
              </a:rPr>
              <a:t>host/IP/domínio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651760" y="3273552"/>
            <a:ext cx="4572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246120" y="2743200"/>
            <a:ext cx="1737360" cy="1051560"/>
          </a:xfrm>
          <a:prstGeom prst="roundRect">
            <a:avLst>
              <a:gd name="adj" fmla="val 8696"/>
            </a:avLst>
          </a:prstGeom>
          <a:solidFill>
            <a:srgbClr val="111827"/>
          </a:solidFill>
          <a:ln w="10160">
            <a:solidFill>
              <a:srgbClr val="2DD4BF">
                <a:alpha val="7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290779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D4BF"/>
                </a:solidFill>
              </a:rPr>
              <a:t>Portas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383280" y="331012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A8B3C5"/>
                </a:solidFill>
              </a:rPr>
              <a:t>abertas/fechadas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0" y="3273552"/>
            <a:ext cx="4572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623560" y="2743200"/>
            <a:ext cx="1737360" cy="1051560"/>
          </a:xfrm>
          <a:prstGeom prst="roundRect">
            <a:avLst>
              <a:gd name="adj" fmla="val 8696"/>
            </a:avLst>
          </a:prstGeom>
          <a:solidFill>
            <a:srgbClr val="111827"/>
          </a:solidFill>
          <a:ln w="10160">
            <a:solidFill>
              <a:srgbClr val="FBBF24">
                <a:alpha val="7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0" y="290779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BF24"/>
                </a:solidFill>
              </a:rPr>
              <a:t>Serviços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760720" y="331012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A8B3C5"/>
                </a:solidFill>
              </a:rPr>
              <a:t>SSH, HTTP etc.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406640" y="3273552"/>
            <a:ext cx="4572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001000" y="2743200"/>
            <a:ext cx="1737360" cy="1051560"/>
          </a:xfrm>
          <a:prstGeom prst="roundRect">
            <a:avLst>
              <a:gd name="adj" fmla="val 8696"/>
            </a:avLst>
          </a:prstGeom>
          <a:solidFill>
            <a:srgbClr val="111827"/>
          </a:solidFill>
          <a:ln w="10160">
            <a:solidFill>
              <a:srgbClr val="A78BFA">
                <a:alpha val="7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38160" y="290779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78BFA"/>
                </a:solidFill>
              </a:rPr>
              <a:t>Relatório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138160" y="331012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A8B3C5"/>
                </a:solidFill>
              </a:rPr>
              <a:t>evidências técnicas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051560" y="47548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DD4BF"/>
                </a:solidFill>
              </a:rPr>
              <a:t>Pergunta que o Nmap ajuda a responder: “o que está exposto nesse sistema?”</a:t>
            </a:r>
            <a:endParaRPr lang="en-US" sz="2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Conceitos mínimos para interpretar o scan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8B3C5"/>
                </a:solidFill>
              </a:rPr>
              <a:t>Sem esses termos, o resultado parece só uma lista de portas.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60120" y="141732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8BDF8"/>
                </a:solidFill>
              </a:rPr>
              <a:t>Host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468880" y="14173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</a:rPr>
              <a:t>Máquina ou serviço acessível na rede.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210312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DD4BF"/>
                </a:solidFill>
              </a:rPr>
              <a:t>Porta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2468880" y="21031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</a:rPr>
              <a:t>Ponto lógico de comunicação TCP/UDP.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78892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BBF24"/>
                </a:solidFill>
              </a:rPr>
              <a:t>Serviço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2468880" y="27889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</a:rPr>
              <a:t>Programa atendendo requisições em uma porta.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0120" y="347472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A78BFA"/>
                </a:solidFill>
              </a:rPr>
              <a:t>Versão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2468880" y="34747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</a:rPr>
              <a:t>Identificação do software e release detectado.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0120" y="416052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87171"/>
                </a:solidFill>
              </a:rPr>
              <a:t>Filtro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2468880" y="41605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</a:rPr>
              <a:t>Firewall ou regra que impede resposta clara.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001000" y="3703320"/>
            <a:ext cx="3246120" cy="1280160"/>
          </a:xfrm>
          <a:prstGeom prst="roundRect">
            <a:avLst>
              <a:gd name="adj" fmla="val 7143"/>
            </a:avLst>
          </a:prstGeom>
          <a:solidFill>
            <a:srgbClr val="050A13"/>
          </a:solidFill>
          <a:ln w="1016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65592" y="3840480"/>
            <a:ext cx="29169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      STATE     SERVICE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22/tcp    open      ssh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80/tcp    open      http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25/tcp    filtered  smtp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Instalação e execução no Windows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8B3C5"/>
                </a:solidFill>
              </a:rPr>
              <a:t>No seu caso, o Nmap já está instalado em “Program Files (x86)”.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822960" y="1554480"/>
            <a:ext cx="10652760" cy="685800"/>
          </a:xfrm>
          <a:prstGeom prst="roundRect">
            <a:avLst>
              <a:gd name="adj" fmla="val 13333"/>
            </a:avLst>
          </a:prstGeom>
          <a:solidFill>
            <a:srgbClr val="050A13"/>
          </a:solidFill>
          <a:ln w="1016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7552" y="1691640"/>
            <a:ext cx="10323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 "C:\Program Files (x86)\Nmap\nmap.exe" scanme.nmap.org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2743200"/>
            <a:ext cx="662940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chamada com &amp; executa um programa cujo caminho possui espaços.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scanme.nmap.org é usado porque foi criado para testes básicos de Nmap.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apresentar, mantenha os comandos simples e explique cada parâmetro.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0" y="274320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172033"/>
          </a:solidFill>
          <a:ln w="10160">
            <a:solidFill>
              <a:srgbClr val="2DD4BF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58200" y="297180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D4BF"/>
                </a:solidFill>
              </a:rPr>
              <a:t>Dica de apresentação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458200" y="331012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E5E7EB"/>
                </a:solidFill>
              </a:rPr>
              <a:t>Faça prints antes. Demo ao vivo é boa, mas pode falhar por rede.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Primeiro scan: descobrir portas abertas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8B3C5"/>
                </a:solidFill>
              </a:rPr>
              <a:t>Comando sem opções avançadas para obter uma visão inicial.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822960" y="1325880"/>
            <a:ext cx="4023360" cy="594360"/>
          </a:xfrm>
          <a:prstGeom prst="roundRect">
            <a:avLst>
              <a:gd name="adj" fmla="val 15385"/>
            </a:avLst>
          </a:prstGeom>
          <a:solidFill>
            <a:srgbClr val="050A13"/>
          </a:solidFill>
          <a:ln w="1016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7552" y="1463040"/>
            <a:ext cx="3694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nmap scanme.nmap.org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331720"/>
            <a:ext cx="5029200" cy="1508760"/>
          </a:xfrm>
          <a:prstGeom prst="roundRect">
            <a:avLst>
              <a:gd name="adj" fmla="val 6061"/>
            </a:avLst>
          </a:prstGeom>
          <a:solidFill>
            <a:srgbClr val="050A13"/>
          </a:solidFill>
          <a:ln w="1016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2468880"/>
            <a:ext cx="47000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22/tcp    open     ssh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80/tcp    open     http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9929/tcp  open     nping-echo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31337/tcp open     tcpwrapped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92240" y="141732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D4BF"/>
                </a:solidFill>
              </a:rPr>
              <a:t>Interpretação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492240" y="2011680"/>
            <a:ext cx="4297680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host respondeu: está ativo.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Portas abertas indicam serviços acessíveis.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scan básico não mostra versão do software.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 uma etapa de reconhecimento, não de exploração.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Detecção de versão com -sV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8B3C5"/>
                </a:solidFill>
              </a:rPr>
              <a:t>Aqui entra o comando que você executou no PowerShell.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77240" y="1234440"/>
            <a:ext cx="10881360" cy="566928"/>
          </a:xfrm>
          <a:prstGeom prst="roundRect">
            <a:avLst>
              <a:gd name="adj" fmla="val 16129"/>
            </a:avLst>
          </a:prstGeom>
          <a:solidFill>
            <a:srgbClr val="050A13"/>
          </a:solidFill>
          <a:ln w="1016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1832" y="1371600"/>
            <a:ext cx="10552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 "C:\Program Files (x86)\Nmap\nmap.exe" -sV scanme.nmap.org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77240" y="2057400"/>
            <a:ext cx="10881360" cy="1920240"/>
          </a:xfrm>
          <a:prstGeom prst="roundRect">
            <a:avLst>
              <a:gd name="adj" fmla="val 4762"/>
            </a:avLst>
          </a:prstGeom>
          <a:solidFill>
            <a:srgbClr val="050A13"/>
          </a:solidFill>
          <a:ln w="1016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2194560"/>
            <a:ext cx="105521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      STATE    SERVICE      VERSION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22/tcp    open     ssh          OpenSSH 6.6.1p1 Ubuntu 2ubuntu2.13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80/tcp    open     http         Apache httpd 2.4.7 ((Ubuntu))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9929/tcp  open     nping-echo   Nping echo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31337/tcp open     tcpwrapped</a:t>
            </a:r>
            <a:endParaRPr lang="en-US" sz="1120" dirty="0"/>
          </a:p>
        </p:txBody>
      </p:sp>
      <p:sp>
        <p:nvSpPr>
          <p:cNvPr id="8" name="Text 6"/>
          <p:cNvSpPr/>
          <p:nvPr/>
        </p:nvSpPr>
        <p:spPr>
          <a:xfrm>
            <a:off x="1097280" y="44348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5E7EB"/>
                </a:solidFill>
              </a:rPr>
              <a:t>O -sV tenta identificar o software e a versão por trás de cada serviço aberto.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interpretar sua saída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8B3C5"/>
                </a:solidFill>
              </a:rPr>
              <a:t>Transforme a tela do terminal em evidência técnica.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68680" y="129844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</a:rPr>
              <a:t>Porta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057400" y="129844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</a:rPr>
              <a:t>Estado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46120" y="129844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</a:rPr>
              <a:t>Serviço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983480" y="1298448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</a:rPr>
              <a:t>Leitura para a apresentação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1627632"/>
            <a:ext cx="10698480" cy="438912"/>
          </a:xfrm>
          <a:prstGeom prst="roundRect">
            <a:avLst>
              <a:gd name="adj" fmla="val 20833"/>
            </a:avLst>
          </a:prstGeom>
          <a:solidFill>
            <a:srgbClr val="172033"/>
          </a:solidFill>
          <a:ln w="10160">
            <a:solidFill>
              <a:srgbClr val="1E293B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73736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</a:rPr>
              <a:t>22/tcp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057400" y="173736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4D399"/>
                </a:solidFill>
              </a:rPr>
              <a:t>open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246120" y="173736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</a:rPr>
              <a:t>ssh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983480" y="1737360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8B3C5"/>
                </a:solidFill>
              </a:rPr>
              <a:t>Acesso remoto via OpenSSH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7240" y="2212848"/>
            <a:ext cx="10698480" cy="438912"/>
          </a:xfrm>
          <a:prstGeom prst="roundRect">
            <a:avLst>
              <a:gd name="adj" fmla="val 20833"/>
            </a:avLst>
          </a:prstGeom>
          <a:solidFill>
            <a:srgbClr val="111827"/>
          </a:solidFill>
          <a:ln w="10160">
            <a:solidFill>
              <a:srgbClr val="1E293B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232257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</a:rPr>
              <a:t>80/tcp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057400" y="232257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4D399"/>
                </a:solidFill>
              </a:rPr>
              <a:t>open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246120" y="2322576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</a:rPr>
              <a:t>http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983480" y="2322576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8B3C5"/>
                </a:solidFill>
              </a:rPr>
              <a:t>Servidor web Apache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77240" y="2798064"/>
            <a:ext cx="10698480" cy="438912"/>
          </a:xfrm>
          <a:prstGeom prst="roundRect">
            <a:avLst>
              <a:gd name="adj" fmla="val 20833"/>
            </a:avLst>
          </a:prstGeom>
          <a:solidFill>
            <a:srgbClr val="172033"/>
          </a:solidFill>
          <a:ln w="10160">
            <a:solidFill>
              <a:srgbClr val="1E293B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290779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</a:rPr>
              <a:t>9929/tcp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057400" y="290779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4D399"/>
                </a:solidFill>
              </a:rPr>
              <a:t>open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246120" y="290779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</a:rPr>
              <a:t>nping-echo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983480" y="2907792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8B3C5"/>
                </a:solidFill>
              </a:rPr>
              <a:t>Serviço de teste do Nping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77240" y="3383280"/>
            <a:ext cx="10698480" cy="438912"/>
          </a:xfrm>
          <a:prstGeom prst="roundRect">
            <a:avLst>
              <a:gd name="adj" fmla="val 20833"/>
            </a:avLst>
          </a:prstGeom>
          <a:solidFill>
            <a:srgbClr val="111827"/>
          </a:solidFill>
          <a:ln w="10160">
            <a:solidFill>
              <a:srgbClr val="1E293B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349300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</a:rPr>
              <a:t>31337/tcp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2057400" y="349300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4D399"/>
                </a:solidFill>
              </a:rPr>
              <a:t>open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246120" y="3493008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</a:rPr>
              <a:t>tcpwrapped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983480" y="3493008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8B3C5"/>
                </a:solidFill>
              </a:rPr>
              <a:t>Serviço não identificado claramente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77240" y="3968496"/>
            <a:ext cx="10698480" cy="438912"/>
          </a:xfrm>
          <a:prstGeom prst="roundRect">
            <a:avLst>
              <a:gd name="adj" fmla="val 20833"/>
            </a:avLst>
          </a:prstGeom>
          <a:solidFill>
            <a:srgbClr val="172033"/>
          </a:solidFill>
          <a:ln w="10160">
            <a:solidFill>
              <a:srgbClr val="1E293B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407822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</a:rPr>
              <a:t>Várias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2057400" y="407822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BBF24"/>
                </a:solidFill>
              </a:rPr>
              <a:t>filtered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3246120" y="4078224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</a:rPr>
              <a:t>diversos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983480" y="4078224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8B3C5"/>
                </a:solidFill>
              </a:rPr>
              <a:t>Provável filtragem por firewall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051560" y="525780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BBF24"/>
                </a:solidFill>
              </a:rPr>
              <a:t>Ponto-chave: versão detectada não prova vulnerabilidade; ela orienta a próxima verificação.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que é NSE?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8B3C5"/>
                </a:solidFill>
              </a:rPr>
              <a:t>Nmap Scripting Engine: scripts para automatizar verificações.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68680" y="129844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5E7EB"/>
                </a:solidFill>
              </a:rPr>
              <a:t>NSE amplia o Nmap com scripts prontos para coleta de informação, enumeração, diagnóstico e checagens de segurança.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05840" y="23317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34D399">
              <a:alpha val="14000"/>
            </a:srgbClr>
          </a:solidFill>
          <a:ln w="8890">
            <a:solidFill>
              <a:srgbClr val="34D399">
                <a:alpha val="6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2400300"/>
            <a:ext cx="12710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E5E7EB"/>
                </a:solidFill>
              </a:rPr>
              <a:t>safe</a:t>
            </a:r>
            <a:endParaRPr lang="en-US" sz="840" dirty="0"/>
          </a:p>
        </p:txBody>
      </p:sp>
      <p:sp>
        <p:nvSpPr>
          <p:cNvPr id="7" name="Text 5"/>
          <p:cNvSpPr/>
          <p:nvPr/>
        </p:nvSpPr>
        <p:spPr>
          <a:xfrm>
            <a:off x="2697480" y="2386584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5E7EB"/>
                </a:solidFill>
              </a:rPr>
              <a:t>Baixo impacto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1005840" y="292608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38BDF8">
              <a:alpha val="14000"/>
            </a:srgbClr>
          </a:solidFill>
          <a:ln w="8890">
            <a:solidFill>
              <a:srgbClr val="38BDF8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2994660"/>
            <a:ext cx="12710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E5E7EB"/>
                </a:solidFill>
              </a:rPr>
              <a:t>default</a:t>
            </a:r>
            <a:endParaRPr lang="en-US" sz="840" dirty="0"/>
          </a:p>
        </p:txBody>
      </p:sp>
      <p:sp>
        <p:nvSpPr>
          <p:cNvPr id="10" name="Text 8"/>
          <p:cNvSpPr/>
          <p:nvPr/>
        </p:nvSpPr>
        <p:spPr>
          <a:xfrm>
            <a:off x="2697480" y="2980944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5E7EB"/>
                </a:solidFill>
              </a:rPr>
              <a:t>Scripts comuns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1005840" y="352044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2DD4BF">
              <a:alpha val="14000"/>
            </a:srgbClr>
          </a:solidFill>
          <a:ln w="8890">
            <a:solidFill>
              <a:srgbClr val="2DD4BF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8992" y="3589020"/>
            <a:ext cx="12710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E5E7EB"/>
                </a:solidFill>
              </a:rPr>
              <a:t>discovery</a:t>
            </a:r>
            <a:endParaRPr lang="en-US" sz="840" dirty="0"/>
          </a:p>
        </p:txBody>
      </p:sp>
      <p:sp>
        <p:nvSpPr>
          <p:cNvPr id="13" name="Text 11"/>
          <p:cNvSpPr/>
          <p:nvPr/>
        </p:nvSpPr>
        <p:spPr>
          <a:xfrm>
            <a:off x="2697480" y="3575304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5E7EB"/>
                </a:solidFill>
              </a:rPr>
              <a:t>Descoberta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1005840" y="411480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A78BFA">
              <a:alpha val="14000"/>
            </a:srgbClr>
          </a:solidFill>
          <a:ln w="889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8992" y="4183380"/>
            <a:ext cx="12710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E5E7EB"/>
                </a:solidFill>
              </a:rPr>
              <a:t>version</a:t>
            </a:r>
            <a:endParaRPr lang="en-US" sz="840" dirty="0"/>
          </a:p>
        </p:txBody>
      </p:sp>
      <p:sp>
        <p:nvSpPr>
          <p:cNvPr id="16" name="Text 14"/>
          <p:cNvSpPr/>
          <p:nvPr/>
        </p:nvSpPr>
        <p:spPr>
          <a:xfrm>
            <a:off x="2697480" y="4169664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5E7EB"/>
                </a:solidFill>
              </a:rPr>
              <a:t>Apoio ao -sV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1005840" y="470916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87171">
              <a:alpha val="14000"/>
            </a:srgbClr>
          </a:solidFill>
          <a:ln w="8890">
            <a:solidFill>
              <a:srgbClr val="F87171">
                <a:alpha val="6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8992" y="4777740"/>
            <a:ext cx="12710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E5E7EB"/>
                </a:solidFill>
              </a:rPr>
              <a:t>vuln</a:t>
            </a:r>
            <a:endParaRPr lang="en-US" sz="840" dirty="0"/>
          </a:p>
        </p:txBody>
      </p:sp>
      <p:sp>
        <p:nvSpPr>
          <p:cNvPr id="19" name="Text 17"/>
          <p:cNvSpPr/>
          <p:nvPr/>
        </p:nvSpPr>
        <p:spPr>
          <a:xfrm>
            <a:off x="2697480" y="4764024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5E7EB"/>
                </a:solidFill>
              </a:rPr>
              <a:t>Checagens de vulnerabilidade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8092440" y="4251960"/>
            <a:ext cx="3429000" cy="960120"/>
          </a:xfrm>
          <a:prstGeom prst="roundRect">
            <a:avLst>
              <a:gd name="adj" fmla="val 9524"/>
            </a:avLst>
          </a:prstGeom>
          <a:solidFill>
            <a:srgbClr val="050A13"/>
          </a:solidFill>
          <a:ln w="10160">
            <a:solidFill>
              <a:srgbClr val="1E29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57032" y="4389120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nmap --script http-title scanme.nmap.org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nmap -sV --script vuln scanme.nmap.org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Demonstração prática sugerida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8B3C5"/>
                </a:solidFill>
              </a:rPr>
              <a:t>Sequência segura para apresentar em sala.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868680" y="1417320"/>
            <a:ext cx="10469880" cy="621792"/>
          </a:xfrm>
          <a:prstGeom prst="roundRect">
            <a:avLst>
              <a:gd name="adj" fmla="val 14706"/>
            </a:avLst>
          </a:prstGeom>
          <a:solidFill>
            <a:srgbClr val="172033"/>
          </a:solidFill>
          <a:ln w="10160">
            <a:solidFill>
              <a:srgbClr val="2DD4BF">
                <a:alpha val="5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52704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D4B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600200" y="1527048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5E7EB"/>
                </a:solidFill>
              </a:rPr>
              <a:t>Host ativo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703320" y="153619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nmap -sn scanme.nmap.org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" y="2221992"/>
            <a:ext cx="10469880" cy="621792"/>
          </a:xfrm>
          <a:prstGeom prst="roundRect">
            <a:avLst>
              <a:gd name="adj" fmla="val 14706"/>
            </a:avLst>
          </a:prstGeom>
          <a:solidFill>
            <a:srgbClr val="111827"/>
          </a:solidFill>
          <a:ln w="10160">
            <a:solidFill>
              <a:srgbClr val="38BDF8">
                <a:alpha val="5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3317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00200" y="233172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5E7EB"/>
                </a:solidFill>
              </a:rPr>
              <a:t>Portas principais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703320" y="2340864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nmap scanme.nmap.org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8680" y="3026664"/>
            <a:ext cx="10469880" cy="621792"/>
          </a:xfrm>
          <a:prstGeom prst="roundRect">
            <a:avLst>
              <a:gd name="adj" fmla="val 14706"/>
            </a:avLst>
          </a:prstGeom>
          <a:solidFill>
            <a:srgbClr val="172033"/>
          </a:solidFill>
          <a:ln w="10160">
            <a:solidFill>
              <a:srgbClr val="2DD4BF">
                <a:alpha val="5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313639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D4BF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00200" y="313639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5E7EB"/>
                </a:solidFill>
              </a:rPr>
              <a:t>Versões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703320" y="31455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nmap -sV scanme.nmap.org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68680" y="3831336"/>
            <a:ext cx="10469880" cy="621792"/>
          </a:xfrm>
          <a:prstGeom prst="roundRect">
            <a:avLst>
              <a:gd name="adj" fmla="val 14706"/>
            </a:avLst>
          </a:prstGeom>
          <a:solidFill>
            <a:srgbClr val="111827"/>
          </a:solidFill>
          <a:ln w="10160">
            <a:solidFill>
              <a:srgbClr val="38BDF8">
                <a:alpha val="5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394106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00200" y="3941064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5E7EB"/>
                </a:solidFill>
              </a:rPr>
              <a:t>NSE simples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703320" y="395020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nmap --script http-title scanme.nmap.org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88720" y="50749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DD4BF"/>
                </a:solidFill>
              </a:rPr>
              <a:t>Tempo recomendado: 2 a 3 minutos para cada comando, explicando antes o objetivo e depois o resultado.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Estados de porta: o que significam?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8B3C5"/>
                </a:solidFill>
              </a:rPr>
              <a:t>A palavra STATE é uma das partes mais importantes da saída.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14400" y="141732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880360" y="141732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</a:rPr>
              <a:t>Há serviço respondendo na porta.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16712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closed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2880360" y="216712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</a:rPr>
              <a:t>A porta respondeu, mas não há serviço ativo.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916936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filtered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2880360" y="2916936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</a:rPr>
              <a:t>Não houve resposta clara; pode existir firewall.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366674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tcpwrapped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2880360" y="3666744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</a:rPr>
              <a:t>Conexão controlada/encerrada antes da identificação.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480060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5E7EB"/>
                </a:solidFill>
              </a:rPr>
              <a:t>Na sua saída, as portas 22, 80, 9929 e 31337 apareceram como open; várias outras apareceram como filtered.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Boas práticas e limitações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8B3C5"/>
                </a:solidFill>
              </a:rPr>
              <a:t>Um scan é ponto de partida, não sentença final.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68680" y="1417320"/>
            <a:ext cx="5852160" cy="3108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9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Documentar comando, data, alvo e autorização.</a:t>
            </a:r>
            <a:endParaRPr lang="en-US" sz="1900" dirty="0"/>
          </a:p>
          <a:p>
            <a:pPr marL="152400" indent="-152400">
              <a:buSzPct val="100000"/>
              <a:buChar char="•"/>
            </a:pPr>
            <a:r>
              <a:rPr lang="en-US" sz="19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Preferir escopos pequenos em demonstrações.</a:t>
            </a:r>
            <a:endParaRPr lang="en-US" sz="1900" dirty="0"/>
          </a:p>
          <a:p>
            <a:pPr marL="152400" indent="-152400">
              <a:buSzPct val="100000"/>
              <a:buChar char="•"/>
            </a:pPr>
            <a:r>
              <a:rPr lang="en-US" sz="19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Evitar opções agressivas sem necessidade.</a:t>
            </a:r>
            <a:endParaRPr lang="en-US" sz="1900" dirty="0"/>
          </a:p>
          <a:p>
            <a:pPr marL="152400" indent="-152400">
              <a:buSzPct val="100000"/>
              <a:buChar char="•"/>
            </a:pPr>
            <a:r>
              <a:rPr lang="en-US" sz="19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Confirmar achados com documentação e outras ferramentas.</a:t>
            </a:r>
            <a:endParaRPr lang="en-US" sz="1900" dirty="0"/>
          </a:p>
          <a:p>
            <a:pPr marL="152400" indent="-152400">
              <a:buSzPct val="100000"/>
              <a:buChar char="•"/>
            </a:pPr>
            <a:r>
              <a:rPr lang="en-US" sz="19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Não afirmar vulnerabilidade apenas pela versão detectada.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7315200" y="1554480"/>
            <a:ext cx="3246120" cy="2697480"/>
          </a:xfrm>
          <a:prstGeom prst="roundRect">
            <a:avLst>
              <a:gd name="adj" fmla="val 3390"/>
            </a:avLst>
          </a:prstGeom>
          <a:solidFill>
            <a:srgbClr val="172033"/>
          </a:solidFill>
          <a:ln w="10160">
            <a:solidFill>
              <a:srgbClr val="FBBF24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35240" y="184708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BF24"/>
                </a:solidFill>
              </a:rPr>
              <a:t>Limite técnico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26680" y="251460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E5E7EB"/>
                </a:solidFill>
              </a:rPr>
              <a:t>Firewalls, proxies, banners alterados e regras de rede podem mudar o resultado do Nmap.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Fechamento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8B3C5"/>
                </a:solidFill>
              </a:rPr>
              <a:t>Mensagem final para a banca/turma.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60120" y="1463040"/>
            <a:ext cx="10149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5E7EB"/>
                </a:solidFill>
              </a:rPr>
              <a:t>O Nmap permite mapear a superfície exposta de um host. Com -sV, ele identifica versões de serviços; com NSE, automatiza verificações. O valor da ferramenta está na interpretação técnica e no uso autorizado.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828800" y="3337560"/>
            <a:ext cx="1645920" cy="777240"/>
          </a:xfrm>
          <a:prstGeom prst="roundRect">
            <a:avLst>
              <a:gd name="adj" fmla="val 11765"/>
            </a:avLst>
          </a:prstGeom>
          <a:solidFill>
            <a:srgbClr val="111827"/>
          </a:solidFill>
          <a:ln w="10160">
            <a:solidFill>
              <a:srgbClr val="38BDF8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65960" y="3520440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8BDF8"/>
                </a:solidFill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331720" y="354787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E7EB"/>
                </a:solidFill>
              </a:rPr>
              <a:t>Descobrir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886200" y="3337560"/>
            <a:ext cx="1645920" cy="777240"/>
          </a:xfrm>
          <a:prstGeom prst="roundRect">
            <a:avLst>
              <a:gd name="adj" fmla="val 11765"/>
            </a:avLst>
          </a:prstGeom>
          <a:solidFill>
            <a:srgbClr val="111827"/>
          </a:solidFill>
          <a:ln w="10160">
            <a:solidFill>
              <a:srgbClr val="2DD4BF">
                <a:alpha val="7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0" y="3520440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D4BF"/>
                </a:solidFill>
              </a:rPr>
              <a:t>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389120" y="354787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E7EB"/>
                </a:solidFill>
              </a:rPr>
              <a:t>Identificar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0" y="3337560"/>
            <a:ext cx="1645920" cy="777240"/>
          </a:xfrm>
          <a:prstGeom prst="roundRect">
            <a:avLst>
              <a:gd name="adj" fmla="val 11765"/>
            </a:avLst>
          </a:prstGeom>
          <a:solidFill>
            <a:srgbClr val="111827"/>
          </a:solidFill>
          <a:ln w="10160">
            <a:solidFill>
              <a:srgbClr val="FBBF24">
                <a:alpha val="7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80760" y="3520440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BBF24"/>
                </a:solidFill>
              </a:rPr>
              <a:t>3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46520" y="354787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E7EB"/>
                </a:solidFill>
              </a:rPr>
              <a:t>Interpretar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01000" y="3337560"/>
            <a:ext cx="1645920" cy="777240"/>
          </a:xfrm>
          <a:prstGeom prst="roundRect">
            <a:avLst>
              <a:gd name="adj" fmla="val 11765"/>
            </a:avLst>
          </a:prstGeom>
          <a:solidFill>
            <a:srgbClr val="111827"/>
          </a:solidFill>
          <a:ln w="10160">
            <a:solidFill>
              <a:srgbClr val="A78BFA">
                <a:alpha val="7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0" y="3520440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78BFA"/>
                </a:solidFill>
              </a:rPr>
              <a:t>4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503920" y="354787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E7EB"/>
                </a:solidFill>
              </a:rPr>
              <a:t>Documentar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886200" y="512064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DD4BF"/>
                </a:solidFill>
              </a:rPr>
              <a:t>Perguntas?</a:t>
            </a:r>
            <a:endParaRPr lang="en-US" sz="3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Fontes e comandos usados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8B3C5"/>
                </a:solidFill>
              </a:rPr>
              <a:t>Inclua este slide no final ou deixe como backup.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68680" y="1417320"/>
            <a:ext cx="9921240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Nmap Reference Guide / Nmap Book: https://nmap.org/book/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Nmap Scripting Engine: https://nmap.org/book/nse.html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Alvo de teste: scanme.nmap.org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Comandos demonstrados: nmap, nmap -sV, nmap --script http-title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914400" y="3749040"/>
            <a:ext cx="10195560" cy="1051560"/>
          </a:xfrm>
          <a:prstGeom prst="roundRect">
            <a:avLst>
              <a:gd name="adj" fmla="val 8696"/>
            </a:avLst>
          </a:prstGeom>
          <a:solidFill>
            <a:srgbClr val="050A13"/>
          </a:solidFill>
          <a:ln w="1016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3886200"/>
            <a:ext cx="9866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nmap scanme.nmap.org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nmap -sV scanme.nmap.org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nmap --script http-title scanme.nmap.org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IFCE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Nmap + NSE: varredura de rede e análise inicial de segurança</dc:title>
  <dc:subject>Tutorial: Nmap + NSE</dc:subject>
  <dc:creator>Gustavo Almeida</dc:creator>
  <cp:lastModifiedBy>Gustavo Almeida</cp:lastModifiedBy>
  <cp:revision>1</cp:revision>
  <dcterms:created xsi:type="dcterms:W3CDTF">2026-05-26T12:09:20Z</dcterms:created>
  <dcterms:modified xsi:type="dcterms:W3CDTF">2026-05-26T12:09:20Z</dcterms:modified>
</cp:coreProperties>
</file>