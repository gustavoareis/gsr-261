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0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282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explicando que o objetivo é mostrar o Nmap como ferramenta de auditoria inicial, usando apenas alvo autorizado de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para orientar o público: não será exploração ofensiva, mas sim reconhecimento e interpretação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 tutorial usa scanme.nmap.org, um alvo disponibilizado pelo projeto Nmap para testes básicos.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Nmap é reconhecimento. Ele não resolve segurança sozinho, mas mostra a superfície exposta.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rapidamente pelos conceitos e apontar como aparecem na saída real do Nmap.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já temos o comando do PowerShell. Explicar o uso do &amp; no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o primeiro scan para mostrar diferença entre porta aberta e versão do serviço.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que o comando demorou 43,64 segundos e trouxe mais informação do que o scan básico.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relatório técnico precisa de interpretação, não só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categorias. O script vuln exige mais cuidado e só deve ser usado onde há autorização.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sequência ideal para demo ao vivo. Se não houver internet, usar prints dos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ajuda a turma a entender por que filtered não é igual a open nem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Bater na tecla da responsabilidade e da diferença entre evidência e conclusão definitiva.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resumindo os comandos principais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as fontes no final e lembrar que os testes foram feitos em ambiente autorizado.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8629" y="3023457"/>
            <a:ext cx="2872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Nmap + NSE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347108" y="3616134"/>
            <a:ext cx="4735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A8B3C5"/>
                </a:solidFill>
              </a:rPr>
              <a:t>Varredura de rede e </a:t>
            </a:r>
            <a:r>
              <a:rPr lang="en-US" sz="2100" dirty="0" err="1">
                <a:solidFill>
                  <a:srgbClr val="A8B3C5"/>
                </a:solidFill>
              </a:rPr>
              <a:t>análise</a:t>
            </a:r>
            <a:r>
              <a:rPr lang="en-US" sz="2100" dirty="0">
                <a:solidFill>
                  <a:srgbClr val="A8B3C5"/>
                </a:solidFill>
              </a:rPr>
              <a:t> de segurança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5800" y="5897880"/>
            <a:ext cx="175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Gustavo Almeida dos Reis</a:t>
            </a:r>
            <a:endParaRPr lang="en-US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A2FA3C-1A7A-4819-5FE6-936DB2A65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0" y="828866"/>
            <a:ext cx="24130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da apresentação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DD4BF"/>
                </a:solidFill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2688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5E7EB"/>
                </a:solidFill>
              </a:rPr>
              <a:t>Contexto e uso ético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194560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95728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8BDF8"/>
                </a:solidFill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505456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5E7EB"/>
                </a:solidFill>
              </a:rPr>
              <a:t>O que é Nmap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767328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68496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DD4BF"/>
                </a:solidFill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078224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5E7EB"/>
                </a:solidFill>
              </a:rPr>
              <a:t>Estados de portas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340096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41264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8BDF8"/>
                </a:solidFill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50992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5E7EB"/>
                </a:solidFill>
              </a:rPr>
              <a:t>Detecção de versão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912864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14032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DD4BF"/>
                </a:solidFill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23760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5E7EB"/>
                </a:solidFill>
              </a:rPr>
              <a:t>NSE: scripts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485632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0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8BDF8"/>
                </a:solidFill>
              </a:rPr>
              <a:t>6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96528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5E7EB"/>
                </a:solidFill>
              </a:rPr>
              <a:t>Demonstração prática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0058400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59568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DD4BF"/>
                </a:solidFill>
              </a:rPr>
              <a:t>7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369296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5E7EB"/>
                </a:solidFill>
              </a:rPr>
              <a:t>Limites e conclusão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Regra</a:t>
            </a: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</a:t>
            </a:r>
            <a:r>
              <a:rPr lang="en-US" sz="2400" b="1" dirty="0" err="1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autorização</a:t>
            </a: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Ferramenta de segurança não é permissão para testar qualquer alvo.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029200" cy="4069080"/>
          </a:xfrm>
          <a:prstGeom prst="roundRect">
            <a:avLst>
              <a:gd name="adj" fmla="val 2247"/>
            </a:avLst>
          </a:prstGeom>
          <a:solidFill>
            <a:srgbClr val="172033"/>
          </a:solidFill>
          <a:ln w="1016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4D399"/>
                </a:solidFill>
              </a:rPr>
              <a:t>Permitido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43434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Sua própria rede ou laboratório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Ambientes da disciplina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Alvos públicos criados para teste, como scanme.nmap.org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com autorização formal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029200" cy="4069080"/>
          </a:xfrm>
          <a:prstGeom prst="roundRect">
            <a:avLst>
              <a:gd name="adj" fmla="val 2247"/>
            </a:avLst>
          </a:prstGeom>
          <a:solidFill>
            <a:srgbClr val="172033"/>
          </a:solidFill>
          <a:ln w="10160">
            <a:solidFill>
              <a:srgbClr val="F87171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87171"/>
                </a:solidFill>
              </a:rPr>
              <a:t>Evitar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0" y="2331720"/>
            <a:ext cx="43434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 de terceiros sem permissão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 corporativas sem autorização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 agressivos em produção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com tentativa de invasão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o Nmap?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Network Mapper: reconhecimento e inventário técnico de redes.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5E7EB"/>
                </a:solidFill>
              </a:rPr>
              <a:t>O Nmap descobre hosts, portas, serviços e </a:t>
            </a:r>
            <a:r>
              <a:rPr lang="en-US" sz="2300" b="1" dirty="0" err="1">
                <a:solidFill>
                  <a:srgbClr val="E5E7EB"/>
                </a:solidFill>
              </a:rPr>
              <a:t>sistema</a:t>
            </a:r>
            <a:r>
              <a:rPr lang="en-US" sz="2300" b="1" dirty="0">
                <a:solidFill>
                  <a:srgbClr val="E5E7EB"/>
                </a:solidFill>
              </a:rPr>
              <a:t> operacional. Ele é usado em inventário, diagnóstico, auditoria e pentest autorizado.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600200" y="317397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333856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</a:rPr>
              <a:t>Alvo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374089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5"/>
                </a:solidFill>
              </a:rPr>
              <a:t>host/IP/domínio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3704322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77640" y="317397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33856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</a:rPr>
              <a:t>Portas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0" y="374089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5"/>
                </a:solidFill>
              </a:rPr>
              <a:t>abertas/fechadas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3704322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55080" y="317397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016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33856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</a:rPr>
              <a:t>Serviços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74089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5"/>
                </a:solidFill>
              </a:rPr>
              <a:t>SSH, HTTP etc.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3704322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317397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016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333856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</a:rPr>
              <a:t>Relatório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0" y="374089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3C5"/>
                </a:solidFill>
              </a:rPr>
              <a:t>evidências técnicas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4754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DD4BF"/>
                </a:solidFill>
              </a:rPr>
              <a:t>Pergunta que o Nmap ajuda a responder: </a:t>
            </a:r>
          </a:p>
          <a:p>
            <a:pPr marL="0" indent="0" algn="ctr">
              <a:buNone/>
            </a:pPr>
            <a:r>
              <a:rPr lang="en-US" sz="2300" b="1" dirty="0">
                <a:solidFill>
                  <a:srgbClr val="2DD4BF"/>
                </a:solidFill>
              </a:rPr>
              <a:t>“o que está exposto nesse sistema?”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Conceitos mínimos para interpretar o scan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Sem esses termos, o resultado parece só uma lista de portas.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417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8BDF8"/>
                </a:solidFill>
              </a:rPr>
              <a:t>Host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468880" y="1417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Máquina ou serviço acessível na rede.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</a:rPr>
              <a:t>Porta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468880" y="21031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Ponto lógico de comunicação TCP/UDP.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</a:rPr>
              <a:t>Serviço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Programa atendendo requisições em uma porta.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78BFA"/>
                </a:solidFill>
              </a:rPr>
              <a:t>Versão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474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Identificação do software e release detectado.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7171"/>
                </a:solidFill>
              </a:rPr>
              <a:t>Filtro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68880" y="4160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Firewall ou regra que impede resposta clara.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0" y="3703320"/>
            <a:ext cx="3246120" cy="1280160"/>
          </a:xfrm>
          <a:prstGeom prst="roundRect">
            <a:avLst>
              <a:gd name="adj" fmla="val 7143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384048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     STATE     SERVICE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  open      ssh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 open      http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25/tcp    filtered  smtp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0046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Instalação e </a:t>
            </a:r>
            <a:r>
              <a:rPr lang="en-US" sz="2400" b="1" dirty="0" err="1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77492" y="1429006"/>
            <a:ext cx="2695198" cy="32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Comando</a:t>
            </a: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 err="1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</a:t>
            </a: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scanme.nmap.org</a:t>
            </a:r>
            <a:endParaRPr lang="en-US" sz="13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22A13CD-A8A8-FED6-0938-FC1640F2E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80" y="1820285"/>
            <a:ext cx="5183422" cy="3442169"/>
          </a:xfrm>
          <a:prstGeom prst="rect">
            <a:avLst/>
          </a:prstGeom>
        </p:spPr>
      </p:pic>
      <p:sp>
        <p:nvSpPr>
          <p:cNvPr id="14" name="Shape 2">
            <a:extLst>
              <a:ext uri="{FF2B5EF4-FFF2-40B4-BE49-F238E27FC236}">
                <a16:creationId xmlns:a16="http://schemas.microsoft.com/office/drawing/2014/main" id="{205BB3B4-DFAF-9F02-3BFF-AE2D49A4B1B0}"/>
              </a:ext>
            </a:extLst>
          </p:cNvPr>
          <p:cNvSpPr/>
          <p:nvPr/>
        </p:nvSpPr>
        <p:spPr>
          <a:xfrm>
            <a:off x="1139471" y="1134104"/>
            <a:ext cx="3571240" cy="298958"/>
          </a:xfrm>
          <a:prstGeom prst="roundRect">
            <a:avLst>
              <a:gd name="adj" fmla="val 13333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F19B7C2-764C-643F-B5C5-8A14CF544D26}"/>
              </a:ext>
            </a:extLst>
          </p:cNvPr>
          <p:cNvSpPr/>
          <p:nvPr/>
        </p:nvSpPr>
        <p:spPr>
          <a:xfrm>
            <a:off x="1444271" y="1204335"/>
            <a:ext cx="296164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 err="1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</a:t>
            </a: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--</a:t>
            </a:r>
            <a:r>
              <a:rPr lang="en-US" sz="1300" dirty="0" err="1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err="1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Insecure.Nmap</a:t>
            </a:r>
            <a:endParaRPr lang="en-US" sz="13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C3C4EE7-9628-5207-3FB8-F25293D371F0}"/>
              </a:ext>
            </a:extLst>
          </p:cNvPr>
          <p:cNvSpPr/>
          <p:nvPr/>
        </p:nvSpPr>
        <p:spPr>
          <a:xfrm>
            <a:off x="8085029" y="1130048"/>
            <a:ext cx="2133182" cy="298958"/>
          </a:xfrm>
          <a:prstGeom prst="roundRect">
            <a:avLst>
              <a:gd name="adj" fmla="val 13333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5B832BB-F8A6-A630-7B8D-7DD53187398E}"/>
              </a:ext>
            </a:extLst>
          </p:cNvPr>
          <p:cNvSpPr/>
          <p:nvPr/>
        </p:nvSpPr>
        <p:spPr>
          <a:xfrm>
            <a:off x="8267700" y="1200279"/>
            <a:ext cx="176784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 err="1">
                <a:solidFill>
                  <a:srgbClr val="D1FAE5"/>
                </a:solidFill>
                <a:latin typeface="Consolas" pitchFamily="34" charset="0"/>
              </a:rPr>
              <a:t>sudo</a:t>
            </a:r>
            <a:r>
              <a:rPr lang="en-US" sz="1300" dirty="0">
                <a:solidFill>
                  <a:srgbClr val="D1FAE5"/>
                </a:solidFill>
                <a:latin typeface="Consolas" pitchFamily="34" charset="0"/>
              </a:rPr>
              <a:t> apt install </a:t>
            </a:r>
            <a:r>
              <a:rPr lang="en-US" sz="1300" dirty="0" err="1">
                <a:solidFill>
                  <a:srgbClr val="D1FAE5"/>
                </a:solidFill>
                <a:latin typeface="Consolas" pitchFamily="34" charset="0"/>
              </a:rPr>
              <a:t>nmap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Primeiro scan: descobrir portas abertas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Etapa de </a:t>
            </a:r>
            <a:r>
              <a:rPr lang="en-US" sz="1050" dirty="0" err="1">
                <a:solidFill>
                  <a:srgbClr val="A8B3C5"/>
                </a:solidFill>
              </a:rPr>
              <a:t>reconhecimento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6304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scanme.nmap.org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468880"/>
            <a:ext cx="4700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  open     ssh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 open     http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9929/tcp  open     nping-echo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31337/tcp open     tcpwrapped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Detecção de versão com -sV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Aqui entra o comando que você executou no PowerShell.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71600"/>
            <a:ext cx="10552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"C:\Program Files (x86)\Nmap\nmap.exe" -sV scanme.nmap.org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94560"/>
            <a:ext cx="10552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     STATE    SERVICE      VERSION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  open     ssh          OpenSSH 6.6.1p1 Ubuntu 2ubuntu2.13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 open     http         Apache httpd 2.4.7 ((Ubuntu))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9929/tcp  open     nping-echo   Nping echo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31337/tcp open     tcpwrapped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E7EB"/>
                </a:solidFill>
              </a:rPr>
              <a:t>O -sV tenta identificar o software e a versão por trás de cada serviço aberto.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interpretar sua saída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Transforme a tela do terminal em evidência técnica.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298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Porta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1298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Estado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4612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Serviço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83480" y="12984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Leitura para a apresentação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627632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72033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373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22/tcp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57400" y="17373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</a:rPr>
              <a:t>open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17373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ssh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3C5"/>
                </a:solidFill>
              </a:rPr>
              <a:t>Acesso remoto via OpenSSH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212848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3225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80/tcp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57400" y="23225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</a:rPr>
              <a:t>open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23225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http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232257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3C5"/>
                </a:solidFill>
              </a:rPr>
              <a:t>Servidor web Apache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2798064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72033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9077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9929/tcp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57400" y="29077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</a:rPr>
              <a:t>open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46120" y="29077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nping-echo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83480" y="29077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3C5"/>
                </a:solidFill>
              </a:rPr>
              <a:t>Serviço de teste do Nping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383280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493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31337/tcp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057400" y="34930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</a:rPr>
              <a:t>open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46120" y="3493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tcpwrapped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83480" y="349300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3C5"/>
                </a:solidFill>
              </a:rPr>
              <a:t>Serviço não identificado claramente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3968496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72033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0782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Várias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057400" y="40782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BF24"/>
                </a:solidFill>
              </a:rPr>
              <a:t>filtered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46120" y="40782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diversos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83480" y="407822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3C5"/>
                </a:solidFill>
              </a:rPr>
              <a:t>Provável filtragem por firewall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51560" y="5257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Ponto-chave: versão detectada não prova vulnerabilidade; ela orienta a próxima verificação.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NSE?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Nmap Scripting Engine: scripts para automatizar verificações.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2984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E7EB"/>
                </a:solidFill>
              </a:rPr>
              <a:t>NSE amplia o Nmap com scripts prontos para coleta de informação, enumeração, diagnóstico e checagens de segurança.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4000"/>
            </a:srgbClr>
          </a:solidFill>
          <a:ln w="889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40030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5E7EB"/>
                </a:solidFill>
              </a:rPr>
              <a:t>safe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2697480" y="238658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Baixo impacto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05840" y="2926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38BDF8">
              <a:alpha val="14000"/>
            </a:srgbClr>
          </a:solidFill>
          <a:ln w="889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9466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5E7EB"/>
                </a:solidFill>
              </a:rPr>
              <a:t>default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2697480" y="298094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Scripts comuns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05840" y="3520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DD4BF">
              <a:alpha val="14000"/>
            </a:srgbClr>
          </a:solidFill>
          <a:ln w="889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58902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5E7EB"/>
                </a:solidFill>
              </a:rPr>
              <a:t>discovery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2697480" y="357530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Descoberta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05840" y="41148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A78BFA">
              <a:alpha val="14000"/>
            </a:srgbClr>
          </a:solidFill>
          <a:ln w="889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18338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5E7EB"/>
                </a:solidFill>
              </a:rPr>
              <a:t>version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697480" y="416966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Apoio ao -sV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1005840" y="47091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87171">
              <a:alpha val="14000"/>
            </a:srgbClr>
          </a:solidFill>
          <a:ln w="8890">
            <a:solidFill>
              <a:srgbClr val="F87171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77774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5E7EB"/>
                </a:solidFill>
              </a:rPr>
              <a:t>vuln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2697480" y="476402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Checagens de vulnerabilidade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92440" y="425196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 http-title scanme.nmap.org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--script vuln scanme.nmap.org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Demonstração prática sugerida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Sequência segura para apresentar em sala.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72033"/>
          </a:solidFill>
          <a:ln w="10160">
            <a:solidFill>
              <a:srgbClr val="2DD4B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270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5270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E7EB"/>
                </a:solidFill>
              </a:rPr>
              <a:t>Host 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03320" y="15361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scanme.nmap.org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221992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016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331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E7EB"/>
                </a:solidFill>
              </a:rPr>
              <a:t>Portas principais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23408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scanme.nmap.org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26664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72033"/>
          </a:solidFill>
          <a:ln w="10160">
            <a:solidFill>
              <a:srgbClr val="2DD4B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363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1363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E7EB"/>
                </a:solidFill>
              </a:rPr>
              <a:t>Versões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03320" y="31455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scanme.nmap.org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831336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016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9410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39410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E7EB"/>
                </a:solidFill>
              </a:rPr>
              <a:t>NSE simples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703320" y="39502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 http-title scanme.nmap.org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D4BF"/>
                </a:solidFill>
              </a:rPr>
              <a:t>Tempo recomendado: 2 a 3 minutos para cada comando, explicando antes o objetivo e depois o resultado.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Estados de porta: o que significam?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A palavra STATE é uma das partes mais importantes da saída.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880360" y="14173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Há serviço respondendo na porta.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880360" y="21671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A porta respondeu, mas não há serviço ativo.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169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880360" y="29169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Não houve resposta clara; pode existir firewall.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667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tcpwrapped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880360" y="36667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Conexão controlada/encerrada antes da identificação.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5E7EB"/>
                </a:solidFill>
              </a:rPr>
              <a:t>Na sua saída, as portas 22, 80, 9929 e 31337 apareceram como open; várias outras apareceram como filtered.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Boas práticas e limitações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Um scan é ponto de partida, não sentença final.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585216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comando, data, alvo e autorização.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Preferir escopos pequenos em demonstrações.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opções agressivas sem necessidade.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achados com documentação e outras ferramentas.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afirmar vulnerabilidade apenas pela versão detectada.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3246120" cy="2697480"/>
          </a:xfrm>
          <a:prstGeom prst="roundRect">
            <a:avLst>
              <a:gd name="adj" fmla="val 3390"/>
            </a:avLst>
          </a:prstGeom>
          <a:solidFill>
            <a:srgbClr val="172033"/>
          </a:solidFill>
          <a:ln w="10160">
            <a:solidFill>
              <a:srgbClr val="FBBF24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8470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</a:rPr>
              <a:t>Limite técnico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2668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E5E7EB"/>
                </a:solidFill>
              </a:rPr>
              <a:t>Firewalls, proxies, banners alterados e regras de rede podem mudar o resultado do Nmap.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Mensagem final para a banca/turma.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46304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5E7EB"/>
                </a:solidFill>
              </a:rPr>
              <a:t>O Nmap permite mapear a superfície exposta de um host. Com -sV, ele identifica versões de serviços; com NSE, automatiza verificações. O valor da ferramenta está na interpretação técnica e no uso autorizado.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828800" y="3337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016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35204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3172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</a:rPr>
              <a:t>Descobrir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86200" y="3337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0160">
            <a:solidFill>
              <a:srgbClr val="2DD4B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35204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</a:rPr>
              <a:t>Identificar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337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016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5204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</a:rPr>
              <a:t>Interpretar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3337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5204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</a:rPr>
              <a:t>Documentar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86200" y="5120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</a:rPr>
              <a:t>Perguntas?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Fontes e comandos usados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3C5"/>
                </a:solidFill>
              </a:rPr>
              <a:t>Inclua este slide no final ou deixe como backup.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99212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Nmap Reference Guide / Nmap Book: https://nmap.org/book/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Nmap Scripting Engine: https://nmap.org/book/nse.html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Alvo de teste: scanme.nmap.org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 demonstrados: nmap, nmap -sV, nmap --script http-title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749040"/>
            <a:ext cx="10195560" cy="1051560"/>
          </a:xfrm>
          <a:prstGeom prst="roundRect">
            <a:avLst>
              <a:gd name="adj" fmla="val 8696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3886200"/>
            <a:ext cx="9866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scanme.nmap.org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scanme.nmap.org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 http-title scanme.nmap.org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1195</Words>
  <Application>Microsoft Office PowerPoint</Application>
  <PresentationFormat>Widescreen</PresentationFormat>
  <Paragraphs>207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IFCE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Nmap + NSE: varredura de rede e análise inicial de segurança</dc:title>
  <dc:subject>Tutorial: Nmap + NSE</dc:subject>
  <dc:creator>Gustavo Almeida</dc:creator>
  <cp:lastModifiedBy>User</cp:lastModifiedBy>
  <cp:revision>6</cp:revision>
  <dcterms:created xsi:type="dcterms:W3CDTF">2026-05-26T12:09:20Z</dcterms:created>
  <dcterms:modified xsi:type="dcterms:W3CDTF">2026-05-26T14:54:17Z</dcterms:modified>
</cp:coreProperties>
</file>